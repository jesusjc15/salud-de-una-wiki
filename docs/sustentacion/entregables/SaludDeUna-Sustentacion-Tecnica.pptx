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0D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SaludDe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457200"/>
            <a:ext cx="3877733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63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SUSTENTACIÓN TÉCNICA · IETI 2026-1 · 21 MAYO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1F5F9"/>
                </a:solidFill>
                <a:latin typeface="Calibri"/>
              </a:rPr>
              <a:t>SaludDeUna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Plataforma de Comunicación Clínica Asistida por 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14630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4233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NestJS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4206240"/>
            <a:ext cx="14630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48839" y="4233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Expo 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4206240"/>
            <a:ext cx="14630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59" y="4233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Next.js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4206240"/>
            <a:ext cx="14630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40680" y="4233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Gemini 2.5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4206240"/>
            <a:ext cx="14630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4233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MongoDB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4206240"/>
            <a:ext cx="14630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20" y="4233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Redis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0" y="4206240"/>
            <a:ext cx="14630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78440" y="4233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Auth0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4652" y="787400"/>
            <a:ext cx="2946347" cy="305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3384" y="3450486"/>
            <a:ext cx="24688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 err="1">
                <a:solidFill>
                  <a:srgbClr val="475569"/>
                </a:solidFill>
                <a:latin typeface="Calibri"/>
              </a:rPr>
              <a:t>Escanear</a:t>
            </a:r>
            <a:r>
              <a:rPr sz="900" b="0" i="0" dirty="0">
                <a:solidFill>
                  <a:srgbClr val="475569"/>
                </a:solidFill>
                <a:latin typeface="Calibri"/>
              </a:rPr>
              <a:t> para </a:t>
            </a:r>
            <a:r>
              <a:rPr sz="900" b="0" i="0" dirty="0" err="1">
                <a:solidFill>
                  <a:srgbClr val="475569"/>
                </a:solidFill>
                <a:latin typeface="Calibri"/>
              </a:rPr>
              <a:t>instalar</a:t>
            </a:r>
            <a:endParaRPr sz="900" b="0" i="0" dirty="0">
              <a:solidFill>
                <a:srgbClr val="475569"/>
              </a:solidFill>
              <a:latin typeface="Calibri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0B19210-1C1D-FD5F-880E-309799FDC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653" y="411480"/>
            <a:ext cx="2946347" cy="294634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3385" y="3152087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F172A"/>
                </a:solidFill>
                <a:latin typeface="Calibri"/>
              </a:rPr>
              <a:t>APK disponible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02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El recorrido demuestra problema, solución y solidez técnica.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4A3B8"/>
                </a:solidFill>
                <a:latin typeface="Calibri"/>
              </a:rPr>
              <a:t>7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bloques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temáticos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· Demo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vivo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286000"/>
            <a:ext cx="155448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9260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Calibri"/>
              </a:rPr>
              <a:t>Problema
e Impacto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7490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ourier New"/>
              </a:rPr>
              <a:t>3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47672" y="2286000"/>
            <a:ext cx="155448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47672" y="2377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9260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Calibri"/>
              </a:rPr>
              <a:t>Propuesta
de Valor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7672" y="37490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ourier New"/>
              </a:rPr>
              <a:t>2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21024" y="2286000"/>
            <a:ext cx="155448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1024" y="2377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ourier Ne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9260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Calibri"/>
              </a:rPr>
              <a:t>MVP y
Casos de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37490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ourier New"/>
              </a:rPr>
              <a:t>2.5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94376" y="2286000"/>
            <a:ext cx="155448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94376" y="2377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ourier New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29260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Calibri"/>
              </a:rPr>
              <a:t>Arquitectura
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37490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ourier New"/>
              </a:rPr>
              <a:t>3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286000"/>
            <a:ext cx="155448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67728" y="2377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ourier New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9260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Calibri"/>
              </a:rPr>
              <a:t>Calidad del
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7490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ourier New"/>
              </a:rPr>
              <a:t>3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2286000"/>
            <a:ext cx="155448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2377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ourier New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9260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Calibri"/>
              </a:rPr>
              <a:t>IA en Producto
y Desarrollo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7490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ourier New"/>
              </a:rPr>
              <a:t>2.5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14432" y="2286000"/>
            <a:ext cx="155448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14432" y="2377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ourier New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4432" y="29260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Calibri"/>
              </a:rPr>
              <a:t>Demo +
Conclusiones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14432" y="37490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ourier New"/>
              </a:rPr>
              <a:t>5–7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CONTEXTO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03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1F5F9"/>
                </a:solidFill>
                <a:latin typeface="Calibri"/>
              </a:rPr>
              <a:t>"La información clínica llega al médico
mal organizada, tarde, o incompleta."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 err="1">
                <a:solidFill>
                  <a:srgbClr val="94A3B8"/>
                </a:solidFill>
                <a:latin typeface="Calibri"/>
              </a:rPr>
              <a:t>Pacientes</a:t>
            </a:r>
            <a:r>
              <a:rPr sz="1300" b="0" i="0" dirty="0">
                <a:solidFill>
                  <a:srgbClr val="94A3B8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94A3B8"/>
                </a:solidFill>
                <a:latin typeface="Calibri"/>
              </a:rPr>
              <a:t>atención</a:t>
            </a:r>
            <a:r>
              <a:rPr sz="13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4A3B8"/>
                </a:solidFill>
                <a:latin typeface="Calibri"/>
              </a:rPr>
              <a:t>primaria</a:t>
            </a:r>
            <a:r>
              <a:rPr sz="13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4A3B8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94A3B8"/>
                </a:solidFill>
                <a:latin typeface="Calibri"/>
              </a:rPr>
              <a:t> Colombia — Consulta </a:t>
            </a:r>
            <a:r>
              <a:rPr sz="1300" b="0" i="0" dirty="0" err="1">
                <a:solidFill>
                  <a:srgbClr val="94A3B8"/>
                </a:solidFill>
                <a:latin typeface="Calibri"/>
              </a:rPr>
              <a:t>ambulatoria</a:t>
            </a:r>
            <a:endParaRPr sz="13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1600" y="393192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B82F6"/>
                </a:solidFill>
                <a:latin typeface="Calibri"/>
              </a:rPr>
              <a:t>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Duración consulta promedio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93192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40233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B82F6"/>
                </a:solidFill>
                <a:latin typeface="Calibri"/>
              </a:rPr>
              <a:t>40–60%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Tiempo en anamnesis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93192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40233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B82F6"/>
                </a:solidFill>
                <a:latin typeface="Calibri"/>
              </a:rPr>
              <a:t>Alta carga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Triage manual en urgencias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PROBLEMA · PACIENTE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04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El paciente no sabe comunicar síntomas de forma clínicamente útil.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4A3B8"/>
                </a:solidFill>
                <a:latin typeface="Calibri"/>
              </a:rPr>
              <a:t>El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problema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no es la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información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— es la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falta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estructura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para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transmitirla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548640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3042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Calibri"/>
              </a:rPr>
              <a:t>❌  Dolor de comunicación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No distingue si el síntoma es urgente o puede esperar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Olvida antecedentes, medicamentos actuales y duración exacta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Describe síntomas sin contexto temporal ni evolutivo claro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Consultas cortas y costosas con información fragmentada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548640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3042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⚠️  Consecuencias reales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Visitas innecesarias a urgencias por falta de triage previo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Diagnósticos tardíos por información incompleta al médico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Sistema saturado de urgencias por casos no urgentes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Sin continuidad estructurada entre consultas del mismo paciente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PROBLEMA · MÉDICO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05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El médico reconstruye el contexto clínico desde cero en cada consulta.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79693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4A3B8"/>
                </a:solidFill>
                <a:latin typeface="Calibri"/>
              </a:rPr>
              <a:t>40–60% del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tiempo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clínico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anamnesis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repetida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—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información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paciente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ya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tiene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3749039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Anamnesis repetida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3474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El médico hace las mismas preguntas básicas en cada consulta. Información que el paciente ya tiene pero no 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86000"/>
            <a:ext cx="3749039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Sin continuidad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743200"/>
            <a:ext cx="3474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Entre una consulta y la siguiente no hay contexto estructurado. El historial existe pero fragmentado.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286000"/>
            <a:ext cx="3749039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Calibri"/>
              </a:rPr>
              <a:t>Alta carga operativa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474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El triage manual consume tiempo de atención clínica. El médico es el cuello de botella del sistema.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029200"/>
            <a:ext cx="11430000" cy="548640"/>
          </a:xfrm>
          <a:prstGeom prst="rect">
            <a:avLst/>
          </a:prstGeom>
          <a:solidFill>
            <a:srgbClr val="103D2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1FAE5"/>
                </a:solidFill>
                <a:latin typeface="Calibri"/>
              </a:rPr>
              <a:t>40–60% de cada consulta se va en recolectar información que el paciente ya tiene.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PROPUESTA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06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SaludDeUna es la capa inteligente entre paciente y médico.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68687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4A3B8"/>
                </a:solidFill>
                <a:latin typeface="Calibri"/>
              </a:rPr>
              <a:t>IA con guardrails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clínicos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estructura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información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clasifica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prioridad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y da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continuidad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3749039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01 · Triage Asistido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34747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Cuestionario estructurado por especialidad. Detección de red flags. Clasificación de prioridad LOW / MODERATE / HIGH antes de que el médico vea al paciente.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194560"/>
            <a:ext cx="3749039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02 · Resumen Clínico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97480"/>
            <a:ext cx="34747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Gemini 2.5-flash genera nota médica estructurada basada en el cuestionario y el chat. El médico llega informado, no en blanco.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194560"/>
            <a:ext cx="3749039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03 · Seguimiento Post-consulta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697480"/>
            <a:ext cx="34747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Followups automáticos a 72 horas y 7 días. Si el paciente empeora ≥2 puntos, el sistema escala creando una nueva consulta de alta prioridad.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166360"/>
            <a:ext cx="11430000" cy="502920"/>
          </a:xfrm>
          <a:prstGeom prst="rect">
            <a:avLst/>
          </a:prstGeom>
          <a:solidFill>
            <a:srgbClr val="103D2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1FAE5"/>
                </a:solidFill>
                <a:latin typeface="Calibri"/>
              </a:rPr>
              <a:t>La IA organiza, clasifica y comunica. El médico decide.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ALCANCE Y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07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Claridad de alcance: SaludDeUna NO reemplaza al médico.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602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Límites técnicos y éticos explícitos — no una promesa, sino código ejecutable.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5394960" cy="3749039"/>
          </a:xfrm>
          <a:prstGeom prst="rect">
            <a:avLst/>
          </a:prstGeom>
          <a:solidFill>
            <a:srgbClr val="2D080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  <a:latin typeface="Calibri"/>
              </a:rPr>
              <a:t>❌  Fuera de alcance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×  Telemedicina regulada (Res. 2654/2019)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×  Diagnóstico automático de enfermedades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×  Prescripción de medicamentos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×  Integración productiva con HCE de terceros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×  Videollamada en tiempo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×  Cobro productivo real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5577840" cy="3749039"/>
          </a:xfrm>
          <a:prstGeom prst="rect">
            <a:avLst/>
          </a:prstGeom>
          <a:solidFill>
            <a:srgbClr val="0628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✅  Lo que SÍ hace la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→  Clasifica prioridad clínica (LOW/MODERATE/HIGH)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→  Detecta red flags en las respuestas del paciente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→  Genera resumen clínico neutral de urgencia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→  Enriquece contexto con evidencia clínica (RAG)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→  Guardrail bloquea diagnóstico y prescripción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29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→  Fallback a motor de reglas si Gemini falla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MVP IMPLEMENTADO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08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Todo lo que se prometió está implementado y con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3 especialidades · 3 roles · 2 frontends · 17 módulos backend · 406+ tests pasando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286000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Auth &amp;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560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Registro, login JWT+Auth0, RBAC, máx 3 sesiones, refresh tokens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286000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2395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Triage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43200"/>
            <a:ext cx="2560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Cuestionario por especialidad, red flags, prioridad, guardrail, fallback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286000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395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Cola Médica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2560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PENDING→IN_PROGRESS→COMPLETED, ordenada por prioridad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2286000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2395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Chat 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743200"/>
            <a:ext cx="2560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Socket.IO, persistido en MongoDB, Redis adapter multi-instancia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77639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087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Resumen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2560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Gemini genera nota clínica, guardrail valida, historial acumulativo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977639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9000" y="4087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Seguimiento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434840"/>
            <a:ext cx="2560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Followups 72h + 7d, escalación automática si empeora, BullMQ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77639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087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Admin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34840"/>
            <a:ext cx="2560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Verificación REThUS, gestión usuarios, billing, dashboard KPIs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3977639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72600" y="4087368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0B981"/>
                </a:solidFill>
                <a:latin typeface="Calibri"/>
              </a:rPr>
              <a:t>Billing</a:t>
            </a:r>
            <a:r>
              <a:rPr lang="es-419" sz="1100" b="1" i="0" dirty="0">
                <a:solidFill>
                  <a:srgbClr val="10B981"/>
                </a:solidFill>
                <a:latin typeface="Calibri"/>
              </a:rPr>
              <a:t> Simulado</a:t>
            </a:r>
            <a:endParaRPr sz="1100" b="1" i="0" dirty="0">
              <a:solidFill>
                <a:srgbClr val="10B981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72600" y="4434840"/>
            <a:ext cx="2560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Precios por especialidad COP, transacciones, revenue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CASOS DE USO ·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09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Tres roles, interfaces separadas, backend compartido.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Patient-only en mobile · Doctor y Admin en web · RBAC en cada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194560"/>
            <a:ext cx="3749039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Paciente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ourier New"/>
              </a:rPr>
              <a:t>EXPO 55 · REACT 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Registro y autenticación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Selección de especialidad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227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Triage IA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525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Checkout y pago simulado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823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Chat con médico en tiempo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7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Seguimiento post-consulta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418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Historial clínico acumulativo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2194560"/>
            <a:ext cx="3749039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Médico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97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ourier New"/>
              </a:rPr>
              <a:t>NEXT.JS 16 · APP 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Registro y verificación REThUS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4930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Cola de consultas por prioridad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9227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Chat bidireccional con paciente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3525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Generación resumen clínico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7823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Cierre y calificación consulta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21207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Dashboard de métricas propias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194560"/>
            <a:ext cx="3749039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Calibri"/>
              </a:rPr>
              <a:t>Administrador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97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ourier New"/>
              </a:rPr>
              <a:t>NEXT.JS 16 · APP ROUTER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Verificación manual REThUS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4930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Gestión de usuarios y roles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9227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Precios por especialidad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3525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Dashboard KPIs del negocio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7823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Revenue metrics y transacciones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21207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  Métricas técnicas plataforma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FLUJO DEL NEGOCIO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10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Flujo completo de principio a fin — trazable y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Cada consulta tiene CorrelationId. Cada evento pasa por el Outbox transaccional.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77440"/>
            <a:ext cx="15087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4231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🔐 Login
JWT+Auth0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377440"/>
            <a:ext cx="15087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0" y="24231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🤖 Triage IA
Gemini+Guard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377440"/>
            <a:ext cx="15087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423160"/>
            <a:ext cx="1417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>
                <a:solidFill>
                  <a:srgbClr val="F1F5F9"/>
                </a:solidFill>
              </a:rPr>
              <a:t>📋 Cola
Por prioridad</a:t>
            </a:r>
            <a:endParaRPr sz="9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7492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2377440"/>
            <a:ext cx="15087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9240" y="2423160"/>
            <a:ext cx="1417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F1F5F9"/>
                </a:solidFill>
              </a:rPr>
              <a:t>📝 </a:t>
            </a:r>
            <a:r>
              <a:rPr lang="en-US" sz="900" b="1" dirty="0" err="1">
                <a:solidFill>
                  <a:srgbClr val="F1F5F9"/>
                </a:solidFill>
              </a:rPr>
              <a:t>Resumen</a:t>
            </a:r>
            <a:r>
              <a:rPr lang="en-US" sz="900" b="1" dirty="0">
                <a:solidFill>
                  <a:srgbClr val="F1F5F9"/>
                </a:solidFill>
              </a:rPr>
              <a:t>
Gemini</a:t>
            </a:r>
            <a:endParaRPr sz="9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2084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2377440"/>
            <a:ext cx="15087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95160" y="24231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💬 Chat
Socket.IO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2377440"/>
            <a:ext cx="15087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41080" y="2423160"/>
            <a:ext cx="14173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F1F5F9"/>
                </a:solidFill>
              </a:rPr>
              <a:t>💳 Checkout
Billing COP</a:t>
            </a:r>
          </a:p>
          <a:p>
            <a:pPr algn="ctr"/>
            <a:endParaRPr sz="9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1268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0" y="2377440"/>
            <a:ext cx="15087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87000" y="24231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🔔 Followup
72h + 7d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57600"/>
            <a:ext cx="28346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72160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Mensajes persistidos en MongoDB con correlationId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657600"/>
            <a:ext cx="28346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29000" y="372160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Outbox transaccional crea eventos de dominio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657600"/>
            <a:ext cx="28346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72160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Worker BullMQ procesa followups asincrónicamente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3657600"/>
            <a:ext cx="28346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72600" y="372160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Escalación automática si severidad aumenta ≥2 puntos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ARQUITECTURA · C4 NIVEL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11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F1F5F9"/>
                </a:solidFill>
                <a:latin typeface="Calibri"/>
              </a:rPr>
              <a:t>Diagrama</a:t>
            </a:r>
            <a:r>
              <a:rPr sz="3600" b="1" i="0" dirty="0">
                <a:solidFill>
                  <a:srgbClr val="F1F5F9"/>
                </a:solidFill>
                <a:latin typeface="Calibri"/>
              </a:rPr>
              <a:t> de </a:t>
            </a:r>
            <a:r>
              <a:rPr sz="3600" b="1" i="0" dirty="0" err="1">
                <a:solidFill>
                  <a:srgbClr val="F1F5F9"/>
                </a:solidFill>
                <a:latin typeface="Calibri"/>
              </a:rPr>
              <a:t>Contexto</a:t>
            </a:r>
            <a:r>
              <a:rPr sz="3600" b="1" i="0" dirty="0">
                <a:solidFill>
                  <a:srgbClr val="F1F5F9"/>
                </a:solidFill>
                <a:latin typeface="Calibri"/>
              </a:rPr>
              <a:t>: 3 </a:t>
            </a:r>
            <a:r>
              <a:rPr sz="3600" b="1" i="0" dirty="0" err="1">
                <a:solidFill>
                  <a:srgbClr val="F1F5F9"/>
                </a:solidFill>
                <a:latin typeface="Calibri"/>
              </a:rPr>
              <a:t>actores</a:t>
            </a:r>
            <a:r>
              <a:rPr sz="3600" b="1" i="0" dirty="0">
                <a:solidFill>
                  <a:srgbClr val="F1F5F9"/>
                </a:solidFill>
                <a:latin typeface="Calibri"/>
              </a:rPr>
              <a:t> · 1 </a:t>
            </a:r>
            <a:r>
              <a:rPr sz="3600" b="1" i="0" dirty="0" err="1">
                <a:solidFill>
                  <a:srgbClr val="F1F5F9"/>
                </a:solidFill>
                <a:latin typeface="Calibri"/>
              </a:rPr>
              <a:t>sistema</a:t>
            </a:r>
            <a:r>
              <a:rPr sz="3600" b="1" i="0" dirty="0">
                <a:solidFill>
                  <a:srgbClr val="F1F5F9"/>
                </a:solidFill>
                <a:latin typeface="Calibri"/>
              </a:rPr>
              <a:t> central · 6 </a:t>
            </a:r>
            <a:r>
              <a:rPr sz="3600" b="1" i="0" dirty="0" err="1">
                <a:solidFill>
                  <a:srgbClr val="F1F5F9"/>
                </a:solidFill>
                <a:latin typeface="Calibri"/>
              </a:rPr>
              <a:t>servicios</a:t>
            </a:r>
            <a:r>
              <a:rPr sz="3600" b="1" i="0" dirty="0">
                <a:solidFill>
                  <a:srgbClr val="F1F5F9"/>
                </a:solidFill>
                <a:latin typeface="Calibri"/>
              </a:rPr>
              <a:t> </a:t>
            </a:r>
            <a:r>
              <a:rPr sz="3600" b="1" i="0" dirty="0" err="1">
                <a:solidFill>
                  <a:srgbClr val="F1F5F9"/>
                </a:solidFill>
                <a:latin typeface="Calibri"/>
              </a:rPr>
              <a:t>externos</a:t>
            </a:r>
            <a:r>
              <a:rPr sz="3600" b="1" i="0" dirty="0">
                <a:solidFill>
                  <a:srgbClr val="F1F5F9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11113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4A3B8"/>
                </a:solidFill>
                <a:latin typeface="Calibri"/>
              </a:rPr>
              <a:t>Todo HTTPS · Chat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por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WebSocket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vía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Socket.IO</a:t>
            </a:r>
          </a:p>
        </p:txBody>
      </p:sp>
      <p:pic>
        <p:nvPicPr>
          <p:cNvPr id="6" name="Picture 5" descr="sad_c4_contex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74552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ARQUITECTURA · C4 NIVEL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12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Contenedores: frontends, API, Worker y capa de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2813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4A3B8"/>
                </a:solidFill>
                <a:latin typeface="Calibri"/>
              </a:rPr>
              <a:t>API para request-response · Worker para jobs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asincrónicos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· MongoDB Vector Search 768d</a:t>
            </a:r>
          </a:p>
        </p:txBody>
      </p:sp>
      <p:pic>
        <p:nvPicPr>
          <p:cNvPr id="6" name="Picture 5" descr="sad_c4_container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74552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BACKEND · 17 MÓDULOS NESTJS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13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4 dominios · 17 módulos · 3 capas transversales.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Cada módulo tiene límites claros. Acoplamiento por DI, nunca por imports directos.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278892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🟢 USUARIOS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Auth (JWT+Auth0)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Patients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09651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Doctors (REThUS)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6344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73659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Admins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194560"/>
            <a:ext cx="278892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0" y="22860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🟡 CLÍNICO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74320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281635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Triage +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338328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0" y="345643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Consultations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402336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0" y="409651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Chat (Socket.IO)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466344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74720" y="473659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Billing · Followups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194560"/>
            <a:ext cx="278892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22860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ourier New"/>
              </a:rPr>
              <a:t>🟣 IA / RAG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74320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281635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AiModule (Gemini)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38328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45643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Knowledge (Chunks)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02336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09651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Rag (8 pasos)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66344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73659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Vector Search 768d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2194560"/>
            <a:ext cx="278892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35440" y="22860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7185"/>
                </a:solidFill>
                <a:latin typeface="Courier New"/>
              </a:rPr>
              <a:t>🔴 INFRA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274320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26880" y="281635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Outbox (exactly-once)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338328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80" y="345643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Dashboard (KPIs)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402336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0" y="409651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Common (Guards)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4663440"/>
            <a:ext cx="2606040" cy="548640"/>
          </a:xfrm>
          <a:prstGeom prst="rect">
            <a:avLst/>
          </a:prstGeom>
          <a:solidFill>
            <a:srgbClr val="07111F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0" y="473659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OTel Bootstrap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577840"/>
            <a:ext cx="11430000" cy="502920"/>
          </a:xfrm>
          <a:prstGeom prst="rect">
            <a:avLst/>
          </a:prstGeom>
          <a:solidFill>
            <a:srgbClr val="071A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56235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ourier New"/>
              </a:rPr>
              <a:t>JWT + RBAC  ·  Throttling 20 req/60s  ·  GlobalExceptionFilter + CorrelationId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IA · PIPELINE DE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14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Pipeline: cuestionario → Gemini → guardrail → resultado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5107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4A3B8"/>
                </a:solidFill>
                <a:latin typeface="Calibri"/>
              </a:rPr>
              <a:t>Fallback a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RedFlagsEngine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si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Gemini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falla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— sin error visible para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usuario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214884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5915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📋 Cuestionario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5–8 preguntas
por especialidad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9260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286000"/>
            <a:ext cx="214884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235915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🔍 RAG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Vector Search 768d
Redis cache 300s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9260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286000"/>
            <a:ext cx="214884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235915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latin typeface="Calibri"/>
              </a:rPr>
              <a:t>🤖 Gemini 2.5-flash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8346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Prompt versionado
Audit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9260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2286000"/>
            <a:ext cx="214884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235915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7185"/>
                </a:solidFill>
                <a:latin typeface="Calibri"/>
              </a:rPr>
              <a:t>🛡️ Guardrail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8346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Bloquea diagnóstico
y prescripción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9260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2286000"/>
            <a:ext cx="214884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0" y="235915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✅ Resultado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8346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LOW/MODERATE/HIGH
+ red flags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89120"/>
            <a:ext cx="5394960" cy="1188720"/>
          </a:xfrm>
          <a:prstGeom prst="rect">
            <a:avLst/>
          </a:prstGeom>
          <a:solidFill>
            <a:srgbClr val="2D080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46227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7185"/>
                </a:solidFill>
                <a:latin typeface="Calibri"/>
              </a:rPr>
              <a:t>Guardrail activa: aiSummary = null · guardrailApplied = true · log WARN + correlationId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834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La respuesta de IA no se persiste si hay diagnóstico o prescripción.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389120"/>
            <a:ext cx="5394960" cy="1188720"/>
          </a:xfrm>
          <a:prstGeom prst="rect">
            <a:avLst/>
          </a:prstGeom>
          <a:solidFill>
            <a:srgbClr val="2D1A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446227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Fallback: Gemini falla → RedFlagsEngine (reglas locales) → analysisType = RULE_BASED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9834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Sin error visible para el usuario. Confiabilidad garantizada.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CRITERIOS DE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15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Seis criterios de calidad con evidencia técnica medible.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No son aspiraciones — son mecanismos implementados con tests que los validan.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286000"/>
            <a:ext cx="3749039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🔐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JWT HS256+RS256, RBAC, rate limiting Redis, bcrypt cost 12, máx 3 sesiones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2286000"/>
            <a:ext cx="3749039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79" y="23774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✅ Confiabilidad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8346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406+ tests · 93% coverage · E2E con MongoDB real · CI falla si &lt;80%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2286000"/>
            <a:ext cx="3749039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B5CF6"/>
                </a:solidFill>
                <a:latin typeface="Courier Ne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3774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📊 Observabilidad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OpenTelemetry · logs JSON estructurados · correlationId · p95 latencia · KPIs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206240"/>
            <a:ext cx="3749039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2976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ourier New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97679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⚡ Rendimiento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7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Redis cache 300s · Rate limiting 20 req/60s · SLO p95 &lt;1500ms · BullMQ async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4206240"/>
            <a:ext cx="3749039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42976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7185"/>
                </a:solidFill>
                <a:latin typeface="Courier New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79" y="4297679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🏗️ Mantenibilidad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75487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17 módulos NestJS · Clean Architecture · DI explícita · Swagger autogenerado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4206240"/>
            <a:ext cx="3749039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2976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Courier New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297679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📈 Escalabilidad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75487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Redis adapter Socket.IO · BullMQ multi-worker · ECS Fargate autoscaling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CALIDAD · 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16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Defensa en profundidad antes del controlador de negocio.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Cada request pasa por 5 capas de validación antes de ejecutar lógica de dominio.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286000"/>
            <a:ext cx="5669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🔑  Dual Auth: JWT + Auth0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HS256 para flujo legacy · RS256 vía JWKS para OAuth2/Auth0
JwtAuthGuard global con bypass @Public() por excepción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286000"/>
            <a:ext cx="5669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👥  RBAC Explícito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3 roles: PATIENT · DOCTOR · ADMIN · Guards globales via APP_GUARD
DoctorVerifiedGuard en todas las rutas clínicas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114800"/>
            <a:ext cx="5669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🚦  Rate Limiting Distribuido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20 requests / 60 segundos / IP · Redis Store distribuido
Funciona en multi-instancia sin acoplar estado local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4114800"/>
            <a:ext cx="56692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🔒  Gestión de Sesiones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634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bcrypt cost 12 · Máximo 3 sesiones activas por usuario
LIFO revocation automática · Refresh token rotation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989320"/>
            <a:ext cx="11521440" cy="502920"/>
          </a:xfrm>
          <a:prstGeom prst="rect">
            <a:avLst/>
          </a:prstGeom>
          <a:solidFill>
            <a:srgbClr val="071A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035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Cada error de API incluye statusCode, message y correlationId — auditable y trazable.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CALIDAD · CONFIABILIDAD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17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406 tests, 93% cobertura, E2E con MongoDB real en memoria.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145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Si la cobertura baja del 80%, el CI falla automáticamente. No hay degradación silenciosa.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26517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  <a:latin typeface="Calibri"/>
              </a:rPr>
              <a:t>406+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  <a:latin typeface="Courier New"/>
              </a:rPr>
              <a:t>TESTS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286000"/>
            <a:ext cx="26517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23774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  <a:latin typeface="Calibri"/>
              </a:rPr>
              <a:t>93%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926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  <a:latin typeface="Courier New"/>
              </a:rPr>
              <a:t>STMT 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26517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23774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B5CF6"/>
                </a:solidFill>
                <a:latin typeface="Calibri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  <a:latin typeface="Courier New"/>
              </a:rPr>
              <a:t>UMBRAL MÍNIMO 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286000"/>
            <a:ext cx="26517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23774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Calibri"/>
              </a:rPr>
              <a:t>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926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  <a:latin typeface="Courier New"/>
              </a:rPr>
              <a:t>TESTS WEB PORTAL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54864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041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Unit Tests (Jest + NestJS Testing)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8912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Mocks de módulos NestJS · AiService siempre mockeado · Validan lógica de dominio aislada
Rápidos, ejecutan en CI en &lt;30s · Cero dependencias externas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4864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4041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E2E Tests (mongodb-memory-server)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38912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MongoDB real en memoria para cada suite · No se mockea la capa de BD
Detectan bugs de queries complejas y relaciones entre esquemas · 12 suites E2E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7C16026-4E38-FEE8-F810-C990EA4D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270" y="2537460"/>
            <a:ext cx="5210420" cy="32766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CALIDAD · OBSERVABILIDAD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18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Tres niveles: logs estructurados, métricas técnicas y trazas distribuidas.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2364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Cada request queda trazado. Cada error tiene correlationId. Cada KPI disponible via API.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286000"/>
            <a:ext cx="3749039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📋  Logs Estructurados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JSON con: correlationId · userId · method · path
statusCode · durationMs — cada request trazable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2286000"/>
            <a:ext cx="3749039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📊  Métricas Técnicas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4320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p95 latencia en tiempo real · Error rate
Endpoint /v1/dashboard/technical · Alerta si p95 &gt; 1500ms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2286000"/>
            <a:ext cx="3749039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🔭  OpenTelemetry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74320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NodeSDK con auto-instrumentación · OTLP HTTP :4318
Listo para Jaeger/Tempo en producción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663440"/>
            <a:ext cx="28346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47548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  <a:latin typeface="Courier New"/>
              </a:rPr>
              <a:t>Tiempo a 1ª respuesta médica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4663440"/>
            <a:ext cx="28346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0" y="47548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  <a:latin typeface="Courier New"/>
              </a:rPr>
              <a:t>Tasa uso resumen clínico 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663440"/>
            <a:ext cx="28346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79" y="47548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  <a:latin typeface="Courier New"/>
              </a:rPr>
              <a:t>Tasa confirmación red flags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4663440"/>
            <a:ext cx="28346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47548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  <a:latin typeface="Courier New"/>
              </a:rPr>
              <a:t>Retención followup 7 días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IA · EN EL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19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La IA tiene tres funciones concretas, todas con guardrails.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Gemini 2.5-flash + embedding-001 · RAG con Vector Search HNSW 768 dimensiones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286000"/>
            <a:ext cx="3749039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🤖  Triage Inteligente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474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Clasifica prioridad LOW/MODERATE/HIGH
Detecta red flags por especialidad · Prompt versionado
Audit log de cada análisis · Fallback a ReglaEngine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2286000"/>
            <a:ext cx="3749039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📝  Resumen Clínico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43200"/>
            <a:ext cx="3474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Nota médica estructurada post-chat
Doctor solicita al cerrar consulta
Guardrail valida antes de mostrar
Campo aiSummary en Consultation schema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2286000"/>
            <a:ext cx="3749039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🔍  RAG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743200"/>
            <a:ext cx="3474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Retrieval-Augmented Generation — 8 pasos
Knowledge base clínica con chunking
Vector Search Atlas HNSW · Cache Redis 300s
RagTrace auditable en MongoDB</a:t>
            </a:r>
          </a:p>
        </p:txBody>
      </p:sp>
      <p:pic>
        <p:nvPicPr>
          <p:cNvPr id="15" name="Picture 14" descr="sad_rag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394960"/>
            <a:ext cx="1152144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IA · GUARDRAIL CLÍNICO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20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El guardrail no es una promesa — es código ejecutable y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687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GuardrailService evalúa cada salida de Gemini antes de persistir. Sin excepciones.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11430000" cy="2560320"/>
          </a:xfrm>
          <a:prstGeom prst="rect">
            <a:avLst/>
          </a:prstGeom>
          <a:solidFill>
            <a:srgbClr val="1E0D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Categorías bloqueadas por GuardrailService: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🚫  Lenguaje de diagnóstico:  'Usted tiene', 'padece de', 'el diagnóstico es', 'parece ser X enfermedad'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🚫  Lenguaje de prescripción:  'Tome', 'debe tomar', 'le recomiendo X medicamento', 'dosis de X'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🚫  Afirmaciones clínicas definitivas:  'Este síntoma confirma', 'con certeza indica', 'definitivamente es'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074920"/>
            <a:ext cx="3749039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51389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7185"/>
                </a:solidFill>
                <a:latin typeface="Courier New"/>
              </a:rPr>
              <a:t>aiSummary = 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23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La respuesta de IA no se persiste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5074920"/>
            <a:ext cx="3749039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51389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ourier New"/>
              </a:rPr>
              <a:t>guardrailApplied = 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623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Flag auditable en el documento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5074920"/>
            <a:ext cx="3749039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51389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B82F6"/>
                </a:solidFill>
                <a:latin typeface="Courier New"/>
              </a:rPr>
              <a:t>log WARN + correlationId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623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  <a:latin typeface="Calibri"/>
              </a:rPr>
              <a:t>Evento registrado y trazable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IA · EN EL DESARROLLO (SWNT §6)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21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Claude Code fue el copiloto técnico del equipo durante todo el 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Evidencia concreta: generación de código, tests, arquitectura y documentación.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286000"/>
            <a:ext cx="3749039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⚙️  Generación de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Módulos NestJS completos · Controllers, Services, DTOs
Schemas Mongoose · Hooks React y componentes Next.js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2286000"/>
            <a:ext cx="3749039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🧪 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4320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406 tests generados/revisados con IA · E2E suites
mongodb-memory-server · Mocks de módulos NestJS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2286000"/>
            <a:ext cx="3749039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🏛️  Arquitectura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74320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Revisiones arquitectónicas por sprint · Auditoría C4
Diagrams as code · Decisiones de patrones documentadas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206240"/>
            <a:ext cx="3749039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315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📚  Documentación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16 documentos wiki · READMEs de 3 servicios
SAD (Software Architecture Document) · Diagramas Mermaid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4206240"/>
            <a:ext cx="3749039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4315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🎨  UX /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6344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Diseño de flujos de usuario · Mockups mobile
Componentes shadcn/ui · Sistema de diseño y paleta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4206240"/>
            <a:ext cx="3749039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4315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🔄  Refactorización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66344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Separación de módulos · Extracción de servicios
Aplicación de patrones clean architecture · Code review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DEMO · RUTA DE DEMOSTRACIÓN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22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Demo en vivo: flujo completo en 8 pasos · ~7 minutos.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Si Gemini no responde, el sistema usa el motor de reglas — sin error visible.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  <a:latin typeface="Calibri"/>
              </a:rPr>
              <a:t>📱 QR + APK
Instalar y abrir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286000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4231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  <a:latin typeface="Calibri"/>
              </a:rPr>
              <a:t>🔐 Login Paciente
JWT + Auth0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286000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4231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  <a:latin typeface="Calibri"/>
              </a:rPr>
              <a:t>🤖 Triage IA
Red flags visibles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2286000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B82F6"/>
                </a:solidFill>
                <a:latin typeface="Courier New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423160"/>
            <a:ext cx="2011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100" b="1" dirty="0">
                <a:solidFill>
                  <a:srgbClr val="F1F5F9"/>
                </a:solidFill>
              </a:rPr>
              <a:t>👨‍⚕️ Panel Doctor
Cola prioridad ALTA</a:t>
            </a:r>
            <a:endParaRPr sz="11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ourier New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160520"/>
            <a:ext cx="20116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F1F5F9"/>
                </a:solidFill>
              </a:rPr>
              <a:t>📝 </a:t>
            </a:r>
            <a:r>
              <a:rPr lang="en-US" sz="1100" b="1" dirty="0" err="1">
                <a:solidFill>
                  <a:srgbClr val="F1F5F9"/>
                </a:solidFill>
              </a:rPr>
              <a:t>Resumen</a:t>
            </a:r>
            <a:r>
              <a:rPr lang="en-US" sz="1100" b="1" dirty="0">
                <a:solidFill>
                  <a:srgbClr val="F1F5F9"/>
                </a:solidFill>
              </a:rPr>
              <a:t> IA
Gemini + Guardrail</a:t>
            </a:r>
          </a:p>
          <a:p>
            <a:pPr algn="l"/>
            <a:endParaRPr sz="11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337560" y="4023360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900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B82F6"/>
                </a:solidFill>
                <a:latin typeface="Courier New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160520"/>
            <a:ext cx="20116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F1F5F9"/>
                </a:solidFill>
              </a:rPr>
              <a:t>💬 Chat Real-time
Socket.IO </a:t>
            </a:r>
            <a:r>
              <a:rPr lang="en-US" sz="1100" b="1" dirty="0" err="1">
                <a:solidFill>
                  <a:srgbClr val="F1F5F9"/>
                </a:solidFill>
              </a:rPr>
              <a:t>bidireccional</a:t>
            </a:r>
            <a:endParaRPr lang="en-US" sz="1100" b="1" dirty="0">
              <a:solidFill>
                <a:srgbClr val="F1F5F9"/>
              </a:solidFill>
            </a:endParaRPr>
          </a:p>
          <a:p>
            <a:pPr algn="l"/>
            <a:endParaRPr sz="11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09360" y="4023360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ourier New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160520"/>
            <a:ext cx="2011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>
                <a:solidFill>
                  <a:srgbClr val="F1F5F9"/>
                </a:solidFill>
              </a:rPr>
              <a:t>💳 Checkout
Pago simulado COP</a:t>
            </a:r>
            <a:endParaRPr lang="pt-BR" sz="1100" b="1" dirty="0">
              <a:solidFill>
                <a:srgbClr val="F1F5F9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281160" y="4023360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7260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ourier New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1605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  <a:latin typeface="Calibri"/>
              </a:rPr>
              <a:t>📊 Dashboard
KPIs reales BD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97880"/>
            <a:ext cx="3749039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9618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7185"/>
                </a:solidFill>
                <a:latin typeface="Calibri"/>
              </a:rPr>
              <a:t>Gemini falla → RedFlagsEngine automático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5897880"/>
            <a:ext cx="3749039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0" y="59618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 err="1">
                <a:solidFill>
                  <a:srgbClr val="F59E0B"/>
                </a:solidFill>
                <a:latin typeface="Calibri"/>
              </a:rPr>
              <a:t>Problema</a:t>
            </a:r>
            <a:r>
              <a:rPr sz="1000" b="1" i="0" dirty="0">
                <a:solidFill>
                  <a:srgbClr val="F59E0B"/>
                </a:solidFill>
                <a:latin typeface="Calibri"/>
              </a:rPr>
              <a:t> de red → screenshots de </a:t>
            </a:r>
            <a:r>
              <a:rPr sz="1000" b="1" i="0" dirty="0" err="1">
                <a:solidFill>
                  <a:srgbClr val="F59E0B"/>
                </a:solidFill>
                <a:latin typeface="Calibri"/>
              </a:rPr>
              <a:t>respaldo</a:t>
            </a:r>
            <a:endParaRPr sz="1000" b="1" i="0" dirty="0">
              <a:solidFill>
                <a:srgbClr val="F59E0B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29600" y="5897880"/>
            <a:ext cx="3749039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59618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Dashboard → datos reales de MongoDB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23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Demo activo — sistema funcionando en tiempo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Backend desplegado · MongoDB Atlas con datos reales · Socket.IO activo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→  Triage generado por Gemini 2.5-flash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→  Chat en tiempo real via Socket.IO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→  Resumen clínico con guardrail activo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→  KPIs leídos directamente de MongoDB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40853" y="675666"/>
            <a:ext cx="2946347" cy="33968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0" y="3383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APK Disponible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0853" y="3749039"/>
            <a:ext cx="29463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 err="1">
                <a:solidFill>
                  <a:srgbClr val="475569"/>
                </a:solidFill>
                <a:latin typeface="Calibri"/>
              </a:rPr>
              <a:t>Descarga</a:t>
            </a:r>
            <a:r>
              <a:rPr sz="900" b="0" i="0" dirty="0">
                <a:solidFill>
                  <a:srgbClr val="475569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75569"/>
                </a:solidFill>
                <a:latin typeface="Calibri"/>
              </a:rPr>
              <a:t>directa</a:t>
            </a:r>
            <a:endParaRPr sz="900" b="0" i="0" dirty="0">
              <a:solidFill>
                <a:srgbClr val="475569"/>
              </a:solidFill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EFC4EF-D4B5-E53F-4826-0B619E46C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53" y="675666"/>
            <a:ext cx="2946347" cy="294634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RESULTADOS LOGRADOS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24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Lo que construimos en números.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5 meses · 4 personas · 3 servicios productivos · 1 plataforma clínica funcionando.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566928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Módulos NestJS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3B82F6"/>
                </a:solidFill>
                <a:latin typeface="Courier New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286000"/>
            <a:ext cx="566928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Tests pasando (0 fallando)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237744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10B981"/>
                </a:solidFill>
                <a:latin typeface="Courier New"/>
              </a:rPr>
              <a:t>406+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566928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Cobertura statements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38328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8B5CF6"/>
                </a:solidFill>
                <a:latin typeface="Courier New"/>
              </a:rPr>
              <a:t>93%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291840"/>
            <a:ext cx="566928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Umbral mínimo CI (branches)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338328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59E0B"/>
                </a:solidFill>
                <a:latin typeface="Courier New"/>
              </a:rPr>
              <a:t>80%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566928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Suites E2E con MongoDB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38912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3B82F6"/>
                </a:solidFill>
                <a:latin typeface="Courier New"/>
              </a:rPr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297680"/>
            <a:ext cx="566928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3891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Roles de usuario diferenciados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438912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10B981"/>
                </a:solidFill>
                <a:latin typeface="Courier New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03520"/>
            <a:ext cx="566928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39496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Frontends independientes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39496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8B5CF6"/>
                </a:solidFill>
                <a:latin typeface="Courier New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303520"/>
            <a:ext cx="566928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539496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Especialidades médicas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539496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59E0B"/>
                </a:solidFill>
                <a:latin typeface="Courier New"/>
              </a:rPr>
              <a:t>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25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1F5F9"/>
                </a:solidFill>
                <a:latin typeface="Calibri"/>
              </a:rPr>
              <a:t>Un </a:t>
            </a:r>
            <a:r>
              <a:rPr sz="3600" b="1" i="0" dirty="0" err="1">
                <a:solidFill>
                  <a:srgbClr val="F1F5F9"/>
                </a:solidFill>
                <a:latin typeface="Calibri"/>
              </a:rPr>
              <a:t>sistema</a:t>
            </a:r>
            <a:r>
              <a:rPr sz="3600" b="1" i="0" dirty="0">
                <a:solidFill>
                  <a:srgbClr val="F1F5F9"/>
                </a:solidFill>
                <a:latin typeface="Calibri"/>
              </a:rPr>
              <a:t> </a:t>
            </a:r>
            <a:r>
              <a:rPr sz="3600" b="1" i="0" dirty="0" err="1">
                <a:solidFill>
                  <a:srgbClr val="F1F5F9"/>
                </a:solidFill>
                <a:latin typeface="Calibri"/>
              </a:rPr>
              <a:t>que</a:t>
            </a:r>
            <a:r>
              <a:rPr sz="3600" b="1" i="0" dirty="0">
                <a:solidFill>
                  <a:srgbClr val="F1F5F9"/>
                </a:solidFill>
                <a:latin typeface="Calibri"/>
              </a:rPr>
              <a:t> </a:t>
            </a:r>
            <a:r>
              <a:rPr sz="3600" b="1" i="0" dirty="0" err="1">
                <a:solidFill>
                  <a:srgbClr val="F1F5F9"/>
                </a:solidFill>
                <a:latin typeface="Calibri"/>
              </a:rPr>
              <a:t>funciona</a:t>
            </a:r>
            <a:r>
              <a:rPr lang="es-419" sz="3600" b="1" i="0" dirty="0">
                <a:solidFill>
                  <a:srgbClr val="F1F5F9"/>
                </a:solidFill>
                <a:latin typeface="Calibri"/>
              </a:rPr>
              <a:t>.</a:t>
            </a:r>
            <a:endParaRPr sz="36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94A3B8"/>
                </a:solidFill>
                <a:latin typeface="Calibri"/>
              </a:rPr>
              <a:t>SaludDeUna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resuelve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un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problema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real de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comunicación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clínica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con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tecnología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94A3B8"/>
                </a:solidFill>
                <a:latin typeface="Calibri"/>
              </a:rPr>
              <a:t>producción</a:t>
            </a:r>
            <a:r>
              <a:rPr sz="1400" b="0" i="0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Lo que aprendimos: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→  La IA en salud no puede ser un black box — necesita guardrails explícitos en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→  Tests E2E con BD real son críticos — los mocks no detectan bugs de migración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79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→  La observabilidad desde el día 1 ahorra horas de debugging en producción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59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→  La modularidad del backend permitió desarrollar en paralelo sin conflictos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BACKUP · C4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C4 Nivel 1 — Contexto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3 actores · 1 sistema central · 6 servicios externos</a:t>
            </a:r>
          </a:p>
        </p:txBody>
      </p:sp>
      <p:pic>
        <p:nvPicPr>
          <p:cNvPr id="7" name="Picture 6" descr="sad_c4_contex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11274552" cy="4206240"/>
          </a:xfrm>
          <a:prstGeom prst="rect">
            <a:avLst/>
          </a:prstGeom>
        </p:spPr>
      </p:pic>
      <p:pic>
        <p:nvPicPr>
          <p:cNvPr id="8" name="Picture 7" descr="qr-ap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17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BACKUP · C4 CONTENEDORES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C4 Nivel 2 — Vista de Contenedores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API + Worker + Mobile + Web + MongoDB + Redis</a:t>
            </a:r>
          </a:p>
        </p:txBody>
      </p:sp>
      <p:pic>
        <p:nvPicPr>
          <p:cNvPr id="7" name="Picture 6" descr="sad_c4_container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11274552" cy="4206240"/>
          </a:xfrm>
          <a:prstGeom prst="rect">
            <a:avLst/>
          </a:prstGeom>
        </p:spPr>
      </p:pic>
      <p:pic>
        <p:nvPicPr>
          <p:cNvPr id="8" name="Picture 7" descr="qr-ap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217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BACKUP · AWS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Despliegue Objetivo AWS — ECS Fargate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ECS Fargate SPOT · ALB · Route53 · CloudFront · WAF (~$25-31/mes)</a:t>
            </a:r>
          </a:p>
        </p:txBody>
      </p:sp>
      <p:pic>
        <p:nvPicPr>
          <p:cNvPr id="8" name="Picture 7" descr="qr-a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17920"/>
            <a:ext cx="640080" cy="6400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37BD59-91CE-2063-774F-A120E8C47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000" y="1430198"/>
            <a:ext cx="6946933" cy="474200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BACKUP · MODELO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Modelo de datos: dominio usuarios y dominio clínico.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MongoDB + Mongoose · Atlas Vector Search HNSW 768d para RAG</a:t>
            </a:r>
          </a:p>
        </p:txBody>
      </p:sp>
      <p:pic>
        <p:nvPicPr>
          <p:cNvPr id="7" name="Picture 6" descr="sad_data_model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3120"/>
            <a:ext cx="5669280" cy="4114800"/>
          </a:xfrm>
          <a:prstGeom prst="rect">
            <a:avLst/>
          </a:prstGeom>
        </p:spPr>
      </p:pic>
      <p:pic>
        <p:nvPicPr>
          <p:cNvPr id="8" name="Picture 7" descr="sad_data_model_clin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5669280" cy="4114800"/>
          </a:xfrm>
          <a:prstGeom prst="rect">
            <a:avLst/>
          </a:prstGeom>
        </p:spPr>
      </p:pic>
      <p:pic>
        <p:nvPicPr>
          <p:cNvPr id="9" name="Picture 8" descr="qr-ap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217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BACKUP · CI/CD Y OBSERVABILIDAD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CI/CD y observabilidad reducen el riesgo operacional.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GitHub Actions · lint → build → test → E2E · OpenTelemetry · logs JSON</a:t>
            </a:r>
          </a:p>
        </p:txBody>
      </p:sp>
      <p:pic>
        <p:nvPicPr>
          <p:cNvPr id="7" name="Picture 6" descr="sad_cicd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3120"/>
            <a:ext cx="5669280" cy="4114800"/>
          </a:xfrm>
          <a:prstGeom prst="rect">
            <a:avLst/>
          </a:prstGeom>
        </p:spPr>
      </p:pic>
      <p:pic>
        <p:nvPicPr>
          <p:cNvPr id="8" name="Picture 7" descr="sad_observability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5669280" cy="4114800"/>
          </a:xfrm>
          <a:prstGeom prst="rect">
            <a:avLst/>
          </a:prstGeom>
        </p:spPr>
      </p:pic>
      <p:pic>
        <p:nvPicPr>
          <p:cNvPr id="9" name="Picture 8" descr="qr-ap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217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BACKUP · PREGUNTAS DEL JURADO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Courier New"/>
              </a:rPr>
              <a:t>00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Calibri"/>
              </a:rPr>
              <a:t>Preguntas técnicas probables y respuestas preparadas.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286000"/>
            <a:ext cx="566928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Q: ¿Cómo garantizan que la IA no diagnostica?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5292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El guardrail es código, no promesa. Si Gemini genera lenguaje de diagnóstico, aiSummary = null. Podemos mostrar GuardrailService.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286000"/>
            <a:ext cx="566928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Q: ¿Por qué MongoDB y no PostgreSQL?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5292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Vector Search nativo para RAG, esquema flexible para datos clínicos que evolucionan, embeddings 768d nativos en Atlas.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749039"/>
            <a:ext cx="566928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84047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Q: ¿Por qué NestJS y no Spring Boot?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1596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DI explícita, módulos aislados, TypeScript end-to-end, ecosistema para WebSocket y RAG. Sin overhead de Spring.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749039"/>
            <a:ext cx="566928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7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Q: ¿Cómo escala el chat?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1596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Redis adapter para Socket.IO. En multi-instancia, pub/sub distribuye mensajes entre instancias sin estado compartido.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212080"/>
            <a:ext cx="566928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7185"/>
                </a:solidFill>
                <a:latin typeface="Calibri"/>
              </a:rPr>
              <a:t>Q: ¿Qué pasa si Gemini falla?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7900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RedFlagsEngine basado en reglas locales toma el control. analysisType = RULE_BASED. Sin error visible para el usuario.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5212080"/>
            <a:ext cx="566928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53035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Q: ¿Costo de infraestructura?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77900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Dev: Railway + Vercel + Atlas M0 + Redis free ≈ $0/mes. Objetivo producción: ECS Fargate SPOT ≈ $25-31/mes.</a:t>
            </a:r>
          </a:p>
        </p:txBody>
      </p:sp>
      <p:pic>
        <p:nvPicPr>
          <p:cNvPr id="24" name="Picture 23" descr="qr-a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17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2915</Words>
  <Application>Microsoft Office PowerPoint</Application>
  <PresentationFormat>Custom</PresentationFormat>
  <Paragraphs>428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JESUS ALBERTO JAUREGUI CONDE</cp:lastModifiedBy>
  <cp:revision>5</cp:revision>
  <dcterms:created xsi:type="dcterms:W3CDTF">2013-01-27T09:14:16Z</dcterms:created>
  <dcterms:modified xsi:type="dcterms:W3CDTF">2026-05-21T14:04:28Z</dcterms:modified>
  <cp:category/>
</cp:coreProperties>
</file>